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87E0C-A909-4B33-AAEC-C8FE2898D1D6}" v="2" dt="2021-09-27T10:48:11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2710" autoAdjust="0"/>
    <p:restoredTop sz="94660"/>
  </p:normalViewPr>
  <p:slideViewPr>
    <p:cSldViewPr snapToGrid="0">
      <p:cViewPr>
        <p:scale>
          <a:sx n="30" d="100"/>
          <a:sy n="30" d="100"/>
        </p:scale>
        <p:origin x="15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White" userId="85e06418-59bd-47e0-a045-7cb64a79f74f" providerId="ADAL" clId="{E4587E0C-A909-4B33-AAEC-C8FE2898D1D6}"/>
    <pc:docChg chg="modSld">
      <pc:chgData name="Jonathan White" userId="85e06418-59bd-47e0-a045-7cb64a79f74f" providerId="ADAL" clId="{E4587E0C-A909-4B33-AAEC-C8FE2898D1D6}" dt="2021-09-27T10:48:55.689" v="45" actId="1038"/>
      <pc:docMkLst>
        <pc:docMk/>
      </pc:docMkLst>
      <pc:sldChg chg="addSp modSp mod">
        <pc:chgData name="Jonathan White" userId="85e06418-59bd-47e0-a045-7cb64a79f74f" providerId="ADAL" clId="{E4587E0C-A909-4B33-AAEC-C8FE2898D1D6}" dt="2021-09-27T10:48:55.689" v="45" actId="1038"/>
        <pc:sldMkLst>
          <pc:docMk/>
          <pc:sldMk cId="3527676133" sldId="256"/>
        </pc:sldMkLst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0" creationId="{69BA5F24-787C-44AE-908F-B619A20C120C}"/>
          </ac:spMkLst>
        </pc:spChg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1" creationId="{8DC5D838-27F2-4B38-925B-C678D6555772}"/>
          </ac:spMkLst>
        </pc:spChg>
        <pc:spChg chg="mod">
          <ac:chgData name="Jonathan White" userId="85e06418-59bd-47e0-a045-7cb64a79f74f" providerId="ADAL" clId="{E4587E0C-A909-4B33-AAEC-C8FE2898D1D6}" dt="2021-09-27T10:48:55.689" v="45" actId="1038"/>
          <ac:spMkLst>
            <pc:docMk/>
            <pc:sldMk cId="3527676133" sldId="256"/>
            <ac:spMk id="12" creationId="{0EB231AF-9096-4646-81B1-3F5BBFA44D34}"/>
          </ac:spMkLst>
        </pc:spChg>
        <pc:spChg chg="mod">
          <ac:chgData name="Jonathan White" userId="85e06418-59bd-47e0-a045-7cb64a79f74f" providerId="ADAL" clId="{E4587E0C-A909-4B33-AAEC-C8FE2898D1D6}" dt="2021-09-27T10:48:43.194" v="28" actId="1076"/>
          <ac:spMkLst>
            <pc:docMk/>
            <pc:sldMk cId="3527676133" sldId="256"/>
            <ac:spMk id="13" creationId="{E2139A99-734D-492D-A2B4-ABC6F3A46758}"/>
          </ac:spMkLst>
        </pc:spChg>
        <pc:spChg chg="mod">
          <ac:chgData name="Jonathan White" userId="85e06418-59bd-47e0-a045-7cb64a79f74f" providerId="ADAL" clId="{E4587E0C-A909-4B33-AAEC-C8FE2898D1D6}" dt="2021-09-27T10:48:50.113" v="29" actId="1076"/>
          <ac:spMkLst>
            <pc:docMk/>
            <pc:sldMk cId="3527676133" sldId="256"/>
            <ac:spMk id="14" creationId="{29471E64-3B9C-4ECE-8C5C-623E3B8AA5F1}"/>
          </ac:spMkLst>
        </pc:spChg>
        <pc:spChg chg="mod">
          <ac:chgData name="Jonathan White" userId="85e06418-59bd-47e0-a045-7cb64a79f74f" providerId="ADAL" clId="{E4587E0C-A909-4B33-AAEC-C8FE2898D1D6}" dt="2021-09-27T10:48:30.624" v="27" actId="1076"/>
          <ac:spMkLst>
            <pc:docMk/>
            <pc:sldMk cId="3527676133" sldId="256"/>
            <ac:spMk id="19" creationId="{5B50A179-7B9A-4987-A17A-B2BA2FD57E22}"/>
          </ac:spMkLst>
        </pc:spChg>
        <pc:spChg chg="mod">
          <ac:chgData name="Jonathan White" userId="85e06418-59bd-47e0-a045-7cb64a79f74f" providerId="ADAL" clId="{E4587E0C-A909-4B33-AAEC-C8FE2898D1D6}" dt="2021-09-27T10:48:30.624" v="27" actId="1076"/>
          <ac:spMkLst>
            <pc:docMk/>
            <pc:sldMk cId="3527676133" sldId="256"/>
            <ac:spMk id="20" creationId="{D8D1FE95-39F4-4D38-B2EF-53232BFBC6D7}"/>
          </ac:spMkLst>
        </pc:spChg>
        <pc:spChg chg="add mod">
          <ac:chgData name="Jonathan White" userId="85e06418-59bd-47e0-a045-7cb64a79f74f" providerId="ADAL" clId="{E4587E0C-A909-4B33-AAEC-C8FE2898D1D6}" dt="2021-09-27T10:47:46.617" v="1" actId="1076"/>
          <ac:spMkLst>
            <pc:docMk/>
            <pc:sldMk cId="3527676133" sldId="256"/>
            <ac:spMk id="24" creationId="{CC7AA43E-169E-4584-BD61-1564EB886BA4}"/>
          </ac:spMkLst>
        </pc:spChg>
        <pc:spChg chg="add mod">
          <ac:chgData name="Jonathan White" userId="85e06418-59bd-47e0-a045-7cb64a79f74f" providerId="ADAL" clId="{E4587E0C-A909-4B33-AAEC-C8FE2898D1D6}" dt="2021-09-27T10:48:19.052" v="26" actId="1076"/>
          <ac:spMkLst>
            <pc:docMk/>
            <pc:sldMk cId="3527676133" sldId="256"/>
            <ac:spMk id="25" creationId="{4D204FDE-6B7C-493E-B33F-71E6F2C28506}"/>
          </ac:spMkLst>
        </pc:spChg>
        <pc:spChg chg="add mod">
          <ac:chgData name="Jonathan White" userId="85e06418-59bd-47e0-a045-7cb64a79f74f" providerId="ADAL" clId="{E4587E0C-A909-4B33-AAEC-C8FE2898D1D6}" dt="2021-09-27T10:48:19.052" v="26" actId="1076"/>
          <ac:spMkLst>
            <pc:docMk/>
            <pc:sldMk cId="3527676133" sldId="256"/>
            <ac:spMk id="26" creationId="{E7B24A34-D6DD-4B29-ACC3-A1E122AA648B}"/>
          </ac:spMkLst>
        </pc:spChg>
        <pc:picChg chg="add mod">
          <ac:chgData name="Jonathan White" userId="85e06418-59bd-47e0-a045-7cb64a79f74f" providerId="ADAL" clId="{E4587E0C-A909-4B33-AAEC-C8FE2898D1D6}" dt="2021-09-27T10:47:46.617" v="1" actId="1076"/>
          <ac:picMkLst>
            <pc:docMk/>
            <pc:sldMk cId="3527676133" sldId="256"/>
            <ac:picMk id="22" creationId="{3240336A-E74F-49A9-86DC-8EF5CEE144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0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00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93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67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82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63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00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33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12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1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0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15FF-C1AD-4C39-96B2-5B4D7F33D7E0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19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informatica.si/index.php/informatica/article/view/8257?utm_source=chatgpt.com" TargetMode="External"/><Relationship Id="rId7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510.27304" TargetMode="External"/><Relationship Id="rId5" Type="http://schemas.openxmlformats.org/officeDocument/2006/relationships/hyperlink" Target="https://ieeexplore.ieee.org/abstract/document/11275955" TargetMode="External"/><Relationship Id="rId4" Type="http://schemas.openxmlformats.org/officeDocument/2006/relationships/hyperlink" Target="https://www.mdpi.com/1424-8220/23/11/5183" TargetMode="External"/><Relationship Id="rId9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C5D838-27F2-4B38-925B-C678D6555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888" y="14627582"/>
            <a:ext cx="10626621" cy="8153767"/>
          </a:xfrm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Research:</a:t>
            </a:r>
            <a:b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Real-time monitoring is widely used in storage/transport to </a:t>
            </a: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 food loss and waste</a:t>
            </a: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with </a:t>
            </a: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temperature and humidity</a:t>
            </a: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the most common variables. (da Costa et al., 2022) Warehouse </a:t>
            </a: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IoT systems </a:t>
            </a: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demonstrate environmental </a:t>
            </a: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monitoring/control</a:t>
            </a: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and recent work adds intelligent decision logic (e.g., fuzzy/learning) for improved responsiveness. (Parkhi et al., 2022; Zhang et al., 2025; Gowrishankar et al., 2023) For spices, </a:t>
            </a: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moisture sorption </a:t>
            </a: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water-activity–temperature </a:t>
            </a: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relationships can cause physical instability (e.g., </a:t>
            </a: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caking</a:t>
            </a: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), motivating early detection. (Voelker et al., 2020) Warehouse </a:t>
            </a: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RF</a:t>
            </a: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conditions can </a:t>
            </a:r>
            <a:r>
              <a:rPr lang="en-US" sz="29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 BLE</a:t>
            </a:r>
            <a:r>
              <a:rPr lang="en-US" sz="29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reliability (metal/multipath) and 2.4 GHz coexistence can add interference; scaling many peripherals also raises gateway scheduling/fairness issues.</a:t>
            </a:r>
            <a:endParaRPr lang="en-GB" sz="29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EB231AF-9096-4646-81B1-3F5BBFA44D34}"/>
              </a:ext>
            </a:extLst>
          </p:cNvPr>
          <p:cNvSpPr txBox="1">
            <a:spLocks/>
          </p:cNvSpPr>
          <p:nvPr/>
        </p:nvSpPr>
        <p:spPr>
          <a:xfrm>
            <a:off x="146083" y="7921738"/>
            <a:ext cx="10453337" cy="63987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3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Aim:</a:t>
            </a:r>
            <a:r>
              <a:rPr lang="en-GB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Build an energy-aware, multi-point warehouse monitoring system that predicts adverse T/RH conditions and communicates risk clearly.</a:t>
            </a:r>
          </a:p>
          <a:p>
            <a:pPr algn="l">
              <a:lnSpc>
                <a:spcPct val="100000"/>
              </a:lnSpc>
            </a:pPr>
            <a:r>
              <a:rPr lang="en-GB" sz="3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Objectives:</a:t>
            </a:r>
            <a:endParaRPr lang="en-GB" sz="3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Build a reliable T/RH sensor pod deployable across multiple zones.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gateway ingestion, preprocessing, and timestamped CSV logging.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forecasting/anomaly detection and evaluate against simple baselines.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Deliver a lightweight dashboard showing readings, trends, and alerts.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Document RF/missing-sample issues and deployment constraints.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5ED70B-CEA5-47FA-AEAC-03AF27505209}"/>
              </a:ext>
            </a:extLst>
          </p:cNvPr>
          <p:cNvSpPr txBox="1"/>
          <p:nvPr/>
        </p:nvSpPr>
        <p:spPr>
          <a:xfrm>
            <a:off x="10761624" y="15300414"/>
            <a:ext cx="36576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State </a:t>
            </a:r>
            <a:r>
              <a:rPr lang="en-GB" sz="3000" b="1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3DE40-F1B5-4977-85B9-1AECC389B896}"/>
              </a:ext>
            </a:extLst>
          </p:cNvPr>
          <p:cNvSpPr txBox="1"/>
          <p:nvPr/>
        </p:nvSpPr>
        <p:spPr>
          <a:xfrm>
            <a:off x="3461887" y="-60849"/>
            <a:ext cx="10516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UFCFXK-30-3: Digital Systems Project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2F446F-B4A4-04F4-5B0B-4794081AF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258" y="15780548"/>
            <a:ext cx="10119745" cy="55430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0246FA-7BB3-460A-BC34-659DB14AA1A0}"/>
              </a:ext>
            </a:extLst>
          </p:cNvPr>
          <p:cNvSpPr txBox="1"/>
          <p:nvPr/>
        </p:nvSpPr>
        <p:spPr>
          <a:xfrm>
            <a:off x="3461887" y="583375"/>
            <a:ext cx="183807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Student name: </a:t>
            </a:r>
            <a:r>
              <a:rPr lang="en-GB" sz="3200" b="1" dirty="0"/>
              <a:t>Mohammad Faraj</a:t>
            </a:r>
          </a:p>
          <a:p>
            <a:r>
              <a:rPr lang="en-GB" sz="3200" dirty="0"/>
              <a:t>Project Title: </a:t>
            </a:r>
            <a:r>
              <a:rPr lang="en-GB" sz="3200" b="1" dirty="0"/>
              <a:t>Predictive Spice-Stock Preservation System for Warehouse Environments</a:t>
            </a:r>
            <a:endParaRPr lang="en-GB" sz="32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BA5F24-787C-44AE-908F-B619A20C120C}"/>
              </a:ext>
            </a:extLst>
          </p:cNvPr>
          <p:cNvSpPr txBox="1">
            <a:spLocks/>
          </p:cNvSpPr>
          <p:nvPr/>
        </p:nvSpPr>
        <p:spPr>
          <a:xfrm>
            <a:off x="146084" y="1814865"/>
            <a:ext cx="10696582" cy="6005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Abstract:</a:t>
            </a:r>
          </a:p>
          <a:p>
            <a:pPr algn="l">
              <a:lnSpc>
                <a:spcPct val="100000"/>
              </a:lnSpc>
            </a:pPr>
            <a:r>
              <a:rPr lang="en-GB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This project develops a </a:t>
            </a:r>
            <a:r>
              <a:rPr lang="en-GB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predictive spice-stock preservation system </a:t>
            </a:r>
            <a:r>
              <a:rPr lang="en-GB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 warehouses using distributed temperature/relative-humidity sensor pods and a </a:t>
            </a:r>
            <a:r>
              <a:rPr lang="en-GB" sz="32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gateway analytics pipeline</a:t>
            </a:r>
            <a:r>
              <a:rPr lang="en-GB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It detects short-horizon environmental risk by collecting multi-point data, running preprocessing plus forecasting/anomaly detection, and presenting actionable dashboards/alerts. Temperature and RH are used because they dominate real-time food monitoring and are strongly linked to moisture-driven quality deterioration in stored products.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39A99-734D-492D-A2B4-ABC6F3A46758}"/>
              </a:ext>
            </a:extLst>
          </p:cNvPr>
          <p:cNvSpPr txBox="1"/>
          <p:nvPr/>
        </p:nvSpPr>
        <p:spPr>
          <a:xfrm>
            <a:off x="10720897" y="9972561"/>
            <a:ext cx="104986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Design, Implementation &amp; Testing:</a:t>
            </a:r>
          </a:p>
          <a:p>
            <a:r>
              <a:rPr lang="en-GB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system uses a layered pipeline: pods measure T/RH and forward readings to a gateway; the gateway validates and preprocesses data, runs forecasting/anomaly detection, and logs time-series for evaluation; the application layer visualises trends and alerts. The current artefact is a physical pod built from a BLE-capable board and a high-accuracy T/RH sensor. Next steps focus on stable gateway transfer, structured logging, and baseline analytics before extending models and alert logic.</a:t>
            </a:r>
            <a:endParaRPr lang="en-GB" sz="30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9471E64-3B9C-4ECE-8C5C-623E3B8AA5F1}"/>
              </a:ext>
            </a:extLst>
          </p:cNvPr>
          <p:cNvSpPr txBox="1">
            <a:spLocks/>
          </p:cNvSpPr>
          <p:nvPr/>
        </p:nvSpPr>
        <p:spPr>
          <a:xfrm>
            <a:off x="10760127" y="4117363"/>
            <a:ext cx="10108005" cy="78450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Functional Requirements:</a:t>
            </a:r>
            <a:endParaRPr lang="en-US" sz="3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Measure and timestamp T/RH at configurable intervals.</a:t>
            </a: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Transmit pod readings to a gateway reliably.</a:t>
            </a: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 data locally (CSV) for evaluation/diagnosis.</a:t>
            </a: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Run forecasting/anomaly flags and generate alerts.</a:t>
            </a: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 a dashboard for status, trends, and alerts.</a:t>
            </a:r>
          </a:p>
          <a:p>
            <a:pPr algn="l">
              <a:lnSpc>
                <a:spcPct val="100000"/>
              </a:lnSpc>
            </a:pPr>
            <a:r>
              <a:rPr lang="en-US" sz="3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Non-functional Requirements:</a:t>
            </a:r>
            <a:endParaRPr lang="en-US" sz="3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Battery-aware pod operation (low duty cycle).</a:t>
            </a: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Robust under intermittent connectivity (gateway keeps logging).</a:t>
            </a: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Scales to multiple pods with predictable performance.</a:t>
            </a: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Low-noise alerting (avoid alert storms).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B50A179-7B9A-4987-A17A-B2BA2FD57E22}"/>
              </a:ext>
            </a:extLst>
          </p:cNvPr>
          <p:cNvSpPr txBox="1">
            <a:spLocks/>
          </p:cNvSpPr>
          <p:nvPr/>
        </p:nvSpPr>
        <p:spPr>
          <a:xfrm>
            <a:off x="21195326" y="11290204"/>
            <a:ext cx="8765051" cy="4439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3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Planning and Management:</a:t>
            </a:r>
          </a:p>
          <a:p>
            <a:pPr algn="l">
              <a:lnSpc>
                <a:spcPct val="100000"/>
              </a:lnSpc>
            </a:pP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Milestones: (1) hardware validation, (2) gateway ingestion + CSV logging, (3) baseline dashboard integration, (4) forecasting/anomaly evaluation, and (5) packaging/documentation/demo. Main risks are wireless reliability and time; mitigation is to deliver a minimal end-to-end pipeline first, then iterate once stability is proven.</a:t>
            </a:r>
            <a:endParaRPr lang="en-GB" sz="3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8D1FE95-39F4-4D38-B2EF-53232BFBC6D7}"/>
              </a:ext>
            </a:extLst>
          </p:cNvPr>
          <p:cNvSpPr txBox="1">
            <a:spLocks/>
          </p:cNvSpPr>
          <p:nvPr/>
        </p:nvSpPr>
        <p:spPr>
          <a:xfrm>
            <a:off x="21174233" y="15158996"/>
            <a:ext cx="8794429" cy="6385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References:</a:t>
            </a:r>
          </a:p>
          <a:p>
            <a:pPr algn="l"/>
            <a:r>
              <a:rPr lang="en-US" sz="1600" b="1" dirty="0"/>
              <a:t>da Costa, T.P., Gillespie, J., Cama-</a:t>
            </a:r>
            <a:r>
              <a:rPr lang="en-US" sz="1600" b="1" dirty="0" err="1"/>
              <a:t>Moncunill</a:t>
            </a:r>
            <a:r>
              <a:rPr lang="en-US" sz="1600" b="1" dirty="0"/>
              <a:t>, X., Ward, S., Condell, J., Ramanathan, R. and Murphy, F. (2022) ‘A Systematic Review of Real-Time Monitoring Technologies and Its Potential Application to Reduce Food Loss and Waste: Key Elements of Food Supply Chains and IoT Technologies’, </a:t>
            </a:r>
            <a:r>
              <a:rPr lang="en-US" sz="1600" b="1" i="1" dirty="0"/>
              <a:t>Sustainability</a:t>
            </a:r>
            <a:r>
              <a:rPr lang="en-US" sz="1600" b="1" dirty="0"/>
              <a:t>, 15(1), p. 614. Available from: (Accessed: 11 January 2026).</a:t>
            </a:r>
          </a:p>
          <a:p>
            <a:pPr algn="l"/>
            <a:r>
              <a:rPr lang="en-US" sz="1600" b="1" dirty="0"/>
              <a:t>Voelker, A.L., Sommer, A.A. and Mauer, L.J. (2020) ‘Moisture sorption behaviors, water activity-temperature relationships, and physical stability traits of spices, herbs, and seasoning blends containing crystalline and amorphous ingredients’, </a:t>
            </a:r>
            <a:r>
              <a:rPr lang="en-US" sz="1600" b="1" i="1" dirty="0"/>
              <a:t>Food Research International</a:t>
            </a:r>
            <a:r>
              <a:rPr lang="en-US" sz="1600" b="1" dirty="0"/>
              <a:t>, 136, p. 109608. (Accessed: 15 November 2025).</a:t>
            </a:r>
          </a:p>
          <a:p>
            <a:pPr algn="l"/>
            <a:r>
              <a:rPr lang="en-US" sz="1600" b="1" dirty="0"/>
              <a:t>Parkhi, V., Chavhan, N., Chandak, S., Chaware, B. and </a:t>
            </a:r>
            <a:r>
              <a:rPr lang="en-US" sz="1600" b="1" dirty="0" err="1"/>
              <a:t>Bongarde</a:t>
            </a:r>
            <a:r>
              <a:rPr lang="en-US" sz="1600" b="1" dirty="0"/>
              <a:t>, P. (2022) ‘An IoT Based Environment Monitoring &amp; Controlling System for Food Grain Warehouse’, in </a:t>
            </a:r>
            <a:r>
              <a:rPr lang="en-US" sz="1600" b="1" i="1" dirty="0"/>
              <a:t>Lecture Notes in Networks and Systems</a:t>
            </a:r>
            <a:r>
              <a:rPr lang="en-US" sz="1600" b="1" dirty="0"/>
              <a:t>. pp. 217–227.</a:t>
            </a:r>
          </a:p>
          <a:p>
            <a:pPr algn="l"/>
            <a:r>
              <a:rPr lang="en-US" sz="1600" b="1" dirty="0"/>
              <a:t>Zhang, W., Zhang, X. and Zhou, X. (2025) ‘IoT-Based Multi-Sensor Environmental Monitoring and Intelligent Control in Automated Warehouses Using Fuzzy Logic and Deep Learning’, </a:t>
            </a:r>
            <a:r>
              <a:rPr lang="en-US" sz="1600" b="1" i="1" dirty="0"/>
              <a:t>Informatica</a:t>
            </a:r>
            <a:r>
              <a:rPr lang="en-US" sz="1600" b="1" dirty="0"/>
              <a:t>, 49(33). Available from: </a:t>
            </a:r>
            <a:r>
              <a:rPr lang="en-US" sz="1600" b="1" dirty="0">
                <a:hlinkClick r:id="rId3"/>
              </a:rPr>
              <a:t>https://informatica.si/index.php/informatica/article/view/8257</a:t>
            </a:r>
            <a:r>
              <a:rPr lang="en-US" sz="1600" b="1" dirty="0"/>
              <a:t> (Accessed: 21 January 2026).</a:t>
            </a:r>
          </a:p>
          <a:p>
            <a:pPr algn="l"/>
            <a:r>
              <a:rPr lang="en-US" sz="1600" b="1" dirty="0"/>
              <a:t>Gowrishankar, V., Veena, P., </a:t>
            </a:r>
            <a:r>
              <a:rPr lang="en-US" sz="1600" b="1" dirty="0" err="1"/>
              <a:t>Ponmurugan</a:t>
            </a:r>
            <a:r>
              <a:rPr lang="en-US" sz="1600" b="1" dirty="0"/>
              <a:t>, P., T, A.B., Vijayakumar, P. and Siva Ramkumar, M. (2023) </a:t>
            </a:r>
            <a:r>
              <a:rPr lang="en-US" sz="1600" b="1" i="1" dirty="0"/>
              <a:t>Edge Computing Enabled Smart Warehouse Management System for Food Processing Industries</a:t>
            </a:r>
            <a:r>
              <a:rPr lang="en-US" sz="1600" b="1" dirty="0"/>
              <a:t>. [Online]. (Accessed: 21 January 2026).</a:t>
            </a:r>
          </a:p>
          <a:p>
            <a:pPr algn="l"/>
            <a:r>
              <a:rPr lang="en-US" sz="1600" b="1" dirty="0"/>
              <a:t>Ramires, M., </a:t>
            </a:r>
            <a:r>
              <a:rPr lang="en-US" sz="1600" b="1" dirty="0" err="1"/>
              <a:t>Campaniço</a:t>
            </a:r>
            <a:r>
              <a:rPr lang="en-US" sz="1600" b="1" dirty="0"/>
              <a:t>, A., Meneses, F. and Moreira, A. (2024) ‘Assessing BLE RSSI Fingerprinting for Product Tracking in a Warehouse’, [Online]. pp. 1–6. (Accessed: 2 December 2025).</a:t>
            </a:r>
          </a:p>
          <a:p>
            <a:pPr algn="l"/>
            <a:r>
              <a:rPr lang="en-US" sz="1600" b="1" dirty="0" err="1"/>
              <a:t>Eltholth</a:t>
            </a:r>
            <a:r>
              <a:rPr lang="en-US" sz="1600" b="1" dirty="0"/>
              <a:t>, A.A. (2023) ‘Improved Spectrum Coexistence in 2.4 GHz ISM Band Using Optimized Chaotic Frequency Hopping for Wi-Fi and Bluetooth Signals’, </a:t>
            </a:r>
            <a:r>
              <a:rPr lang="en-US" sz="1600" b="1" i="1" dirty="0"/>
              <a:t>Sensors</a:t>
            </a:r>
            <a:r>
              <a:rPr lang="en-US" sz="1600" b="1" dirty="0"/>
              <a:t>, 23(11), p. 5183. Available from: </a:t>
            </a:r>
            <a:r>
              <a:rPr lang="en-US" sz="1600" b="1" dirty="0">
                <a:hlinkClick r:id="rId4"/>
              </a:rPr>
              <a:t>https://www.mdpi.com/1424-8220/23/11/5183</a:t>
            </a:r>
            <a:r>
              <a:rPr lang="en-US" sz="1600" b="1" dirty="0"/>
              <a:t> (Accessed: 21 January 2026).</a:t>
            </a:r>
          </a:p>
          <a:p>
            <a:pPr algn="l"/>
            <a:r>
              <a:rPr lang="en-US" sz="1600" b="1" dirty="0"/>
              <a:t>Kim, M. and Paek, J. (2025) ‘Multi-Connection Scheduling with Fair Resource Management for Scalable Bluetooth Low Energy Networks’, </a:t>
            </a:r>
            <a:r>
              <a:rPr lang="en-US" sz="1600" b="1" i="1" dirty="0"/>
              <a:t>IEEE Internet of Things Journal</a:t>
            </a:r>
            <a:r>
              <a:rPr lang="en-US" sz="1600" b="1" dirty="0"/>
              <a:t>, pp. 1–1. Available from: </a:t>
            </a:r>
            <a:r>
              <a:rPr lang="en-US" sz="1600" b="1" dirty="0">
                <a:hlinkClick r:id="rId5"/>
              </a:rPr>
              <a:t>https://ieeexplore.ieee.org/abstract/document/11275955</a:t>
            </a:r>
            <a:r>
              <a:rPr lang="en-US" sz="1600" b="1" dirty="0"/>
              <a:t> (Accessed: 4 January 2026).</a:t>
            </a:r>
          </a:p>
          <a:p>
            <a:pPr algn="l"/>
            <a:r>
              <a:rPr lang="en-US" sz="1600" b="1" dirty="0" err="1"/>
              <a:t>Carnier</a:t>
            </a:r>
            <a:r>
              <a:rPr lang="en-US" sz="1600" b="1" dirty="0"/>
              <a:t>, R.M., </a:t>
            </a:r>
            <a:r>
              <a:rPr lang="en-US" sz="1600" b="1" dirty="0" err="1"/>
              <a:t>Lahesoo</a:t>
            </a:r>
            <a:r>
              <a:rPr lang="en-US" sz="1600" b="1" dirty="0"/>
              <a:t>, L. and Fukuda, K. (2025) ‘Binary Anomaly Detection in Streaming IoT Traffic under Concept Drift’, </a:t>
            </a:r>
            <a:r>
              <a:rPr lang="en-US" sz="1600" b="1" i="1" dirty="0" err="1"/>
              <a:t>arXiv</a:t>
            </a:r>
            <a:r>
              <a:rPr lang="en-US" sz="1600" b="1" dirty="0"/>
              <a:t>. Available from: </a:t>
            </a:r>
            <a:r>
              <a:rPr lang="en-US" sz="1600" b="1" dirty="0">
                <a:hlinkClick r:id="rId6"/>
              </a:rPr>
              <a:t>https://arxiv.org/abs/2510.27304</a:t>
            </a:r>
            <a:r>
              <a:rPr lang="en-US" sz="1600" b="1" dirty="0"/>
              <a:t> (Accessed: 21 January 2026).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B411E9-4872-4190-BCE2-7FC82A022711}"/>
              </a:ext>
            </a:extLst>
          </p:cNvPr>
          <p:cNvCxnSpPr>
            <a:cxnSpLocks/>
          </p:cNvCxnSpPr>
          <p:nvPr/>
        </p:nvCxnSpPr>
        <p:spPr>
          <a:xfrm>
            <a:off x="10660158" y="5006048"/>
            <a:ext cx="0" cy="15763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94C917-028B-4D9F-9148-8DFC6520CD1F}"/>
              </a:ext>
            </a:extLst>
          </p:cNvPr>
          <p:cNvCxnSpPr>
            <a:cxnSpLocks/>
          </p:cNvCxnSpPr>
          <p:nvPr/>
        </p:nvCxnSpPr>
        <p:spPr>
          <a:xfrm>
            <a:off x="21079326" y="5006048"/>
            <a:ext cx="0" cy="15763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CC7AA43E-169E-4584-BD61-1564EB886BA4}"/>
              </a:ext>
            </a:extLst>
          </p:cNvPr>
          <p:cNvSpPr txBox="1">
            <a:spLocks/>
          </p:cNvSpPr>
          <p:nvPr/>
        </p:nvSpPr>
        <p:spPr>
          <a:xfrm>
            <a:off x="26726839" y="1514109"/>
            <a:ext cx="3950320" cy="7475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Watch the demo video!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7B24A34-D6DD-4B29-ACC3-A1E122AA648B}"/>
              </a:ext>
            </a:extLst>
          </p:cNvPr>
          <p:cNvSpPr txBox="1">
            <a:spLocks/>
          </p:cNvSpPr>
          <p:nvPr/>
        </p:nvSpPr>
        <p:spPr>
          <a:xfrm>
            <a:off x="21250433" y="7209706"/>
            <a:ext cx="8868437" cy="39114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3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Testing includes: </a:t>
            </a:r>
            <a:r>
              <a:rPr lang="en-GB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 sensor stability/sanity checks, (b) comms reliability tests (distance, obstruction, missing samples), and (c) forecasting evaluation using standard error metrics and baseline comparisons. Where possible, multi-pod trials will assess scaling and confirm that logging supports diagnosis and reproducible evaluation.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0438DD-DCB9-43D4-7250-C6C5BBB5DF78}"/>
              </a:ext>
            </a:extLst>
          </p:cNvPr>
          <p:cNvSpPr/>
          <p:nvPr/>
        </p:nvSpPr>
        <p:spPr>
          <a:xfrm>
            <a:off x="20968100" y="1799433"/>
            <a:ext cx="5955900" cy="5131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30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Implementation Artifacts: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30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Board: </a:t>
            </a:r>
            <a:r>
              <a:rPr lang="en-GB" sz="3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Adafruit Feather nRF52840 Express (BLE, ARM Cortex-M4F, USB).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30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Sensor: </a:t>
            </a:r>
            <a:r>
              <a:rPr lang="en-GB" sz="3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Adafruit </a:t>
            </a:r>
            <a:r>
              <a:rPr lang="en-GB" sz="30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Sensirion</a:t>
            </a:r>
            <a:r>
              <a:rPr lang="en-GB" sz="3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SHT45 (high-accuracy digital T/RH, </a:t>
            </a: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I²C</a:t>
            </a:r>
            <a:r>
              <a:rPr lang="en-GB" sz="3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30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Relevance: </a:t>
            </a:r>
            <a:r>
              <a:rPr lang="en-GB" sz="3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Supports low-power, reliable warehouse sensing pods.</a:t>
            </a:r>
            <a:endParaRPr lang="en-US" sz="30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9B02F3-2FCD-4E2A-4073-ECF727BF6A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1199" y="204932"/>
            <a:ext cx="1309177" cy="130917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353B4DF-E221-A662-6E88-4D638EA7BE59}"/>
              </a:ext>
            </a:extLst>
          </p:cNvPr>
          <p:cNvSpPr txBox="1"/>
          <p:nvPr/>
        </p:nvSpPr>
        <p:spPr>
          <a:xfrm>
            <a:off x="10772707" y="1873571"/>
            <a:ext cx="10236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(Ramires et al., 2024; </a:t>
            </a:r>
            <a:r>
              <a:rPr lang="en-US" sz="3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Eltholth</a:t>
            </a: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2023; Kim &amp; Paek, 2025) Over time, concept drift can degrade static models, supporting logging and periodic re-validation. (</a:t>
            </a:r>
            <a:r>
              <a:rPr lang="en-US" sz="3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Carnier</a:t>
            </a:r>
            <a:r>
              <a:rPr lang="en-US" sz="3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et al., 2025)</a:t>
            </a:r>
            <a:endParaRPr lang="en-US" sz="3000" dirty="0"/>
          </a:p>
        </p:txBody>
      </p:sp>
      <p:pic>
        <p:nvPicPr>
          <p:cNvPr id="8" name="Picture 6" descr="Welcome to UWE Bristol - University of the West of England ...">
            <a:extLst>
              <a:ext uri="{FF2B5EF4-FFF2-40B4-BE49-F238E27FC236}">
                <a16:creationId xmlns:a16="http://schemas.microsoft.com/office/drawing/2014/main" id="{AEE2C9CD-77BB-42E5-B50C-E5AFA99CC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7" y="0"/>
            <a:ext cx="3269243" cy="163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D5C270-536F-0AA6-F105-4663F50D69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1296" y="2092917"/>
            <a:ext cx="3867356" cy="472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7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</TotalTime>
  <Words>1248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Sans Serif Collection</vt:lpstr>
      <vt:lpstr>Office Theme</vt:lpstr>
      <vt:lpstr>Research: Real-time monitoring is widely used in storage/transport to reduce food loss and waste, with temperature and humidity as the most common variables. (da Costa et al., 2022) Warehouse IoT systems demonstrate environmental monitoring/control, and recent work adds intelligent decision logic (e.g., fuzzy/learning) for improved responsiveness. (Parkhi et al., 2022; Zhang et al., 2025; Gowrishankar et al., 2023) For spices, moisture sorption and water-activity–temperature relationships can cause physical instability (e.g., caking), motivating early detection. (Voelker et al., 2020) Warehouse RF conditions can reduce BLE reliability (metal/multipath) and 2.4 GHz coexistence can add interference; scaling many peripherals also raises gateway scheduling/fairness issues.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Research:  A short summary of your research providing key related works;  Be critical. Use appropriate citation. </dc:title>
  <dc:creator>Theo Spyridopoulos</dc:creator>
  <cp:lastModifiedBy>محمد فرج</cp:lastModifiedBy>
  <cp:revision>10</cp:revision>
  <dcterms:created xsi:type="dcterms:W3CDTF">2017-09-14T11:34:59Z</dcterms:created>
  <dcterms:modified xsi:type="dcterms:W3CDTF">2026-01-28T11:45:06Z</dcterms:modified>
</cp:coreProperties>
</file>